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DSC §7.1 discusses the repeated budget and the need for nulls when a department has no instructors.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condition is sufficient; DSC §7.4 notes it is necessary only when all constraints are FDs. This proof sketch is a lecturer addition supporting the 'proofs of soundness' item of session 35.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  ·  Chapter 7: Normalization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 design: functional dependencies and normal forms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32, 33, 34, 35, 36, 37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textbook: Silberschatz, Korth &amp; Sudarshan, Database System Concepts, 7th ed. (2020) – Ch. 7, §7.1–7.6 and §7.8, pp. 303–342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7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32–33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designs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Redundancy and anomalies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Decomposition using FDs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BCNF and 3NF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34–35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 theory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Closure, Armstrong's axioms, attribute closure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cover, lossless decomposition, dependency preservation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BCNF decomposition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synthesis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9828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0412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FDs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Multivalued dependencies, 4NF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Atomic domains and 1NF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CQ7.1–CQ7.3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32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of good relational designs; decomposition using functional dependencies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7, §7.1–7.2, pp. 303–312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 A bad design: in_dep = instructor ⋈ department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from the university sample data, combined into one relation: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1463040"/>
                <a:gridCol w="2011680"/>
                <a:gridCol w="21945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22222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Einstein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Physics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Watson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33456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87000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Physics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Watson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Srinivasan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65000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Comp. Sci.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Taylor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45565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Katz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Comp. Sci.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Taylor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budget are repeated for every instructor of a department.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caused by redundancy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anomaly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Physics budget requires updating every Physics instructor's tuple; missing one makes the data inconsistent.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anomaly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department without instructors cannot be stored unless nulls are used for the instructor attributes.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anomaly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last instructor of a department also deletes the department's building and budget.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Decomposition: lossless and lossy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decomposition replaces schema R by R1, R2 with R = R1 ∪ R2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legal instance r, Π_R1(r) ⋈ Π_R2(r) = 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 returns extra tuples, so we no longer know which tuples were in 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employee(ID, name, street, city, salary) split into (ID, name) and (name, street, city, salary)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employees with the same name produce spurious tuples in the join: the decomposition is lossy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lossy decomposition loses information even though it returns more tuples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Functional dependencies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→ β holds on R if, for all pairs of tuples t1, t2 in any legal instance, t1[α] = t2[α] implies t1[β] = t2[β]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Superkey: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a superkey of R iff K → 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FD: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→ β is trivial if β ⊆ α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F⁺: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 FDs logically implied by 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are constraints on all legal instances; one instance can refute an FD but never prove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test: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R2 is lossless if R1 ∩ R2 → R1 or R1 ∩ R2 → R2 is in F⁺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in_dep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 → building, budget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→ name, salary, dept_name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decomposition into department and instructor is lossless: the common attribute dept_name is a key of department.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33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forms: Boyce–Codd normal form and third normal form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7, §7.3, pp. 313–319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 Boyce–Codd normal form (BCNF)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in BCNF with respect to F if, for every α → β in F⁺ with α ∪ β ⊆ R, at least one holds: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→ β is trivial (β ⊆ α)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a superkey of 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in_dep is not in BCNF: dept_name → building, budget holds, but dept_name is not a superkey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step: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violating α → β, replace R by (α ∪ β) and (R − (β − α))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in_dep → (dept_name, building, budget) and (ID, name, salary, dept_name)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lossless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schemas share α, and α → α ∪ β, so the lossless test of §7.2 is satisfied.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BCNF and dependency preservation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dept_advisor(s_ID, i_ID, dept_name), F = { i_ID → dept_name;  s_ID, dept_name → i_ID }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9659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512064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i_ID → dept_name violates BCNF: i_ID is not a superkey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decomposition: (s_ID, i_ID) and (i_ID, dept_name)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 contains s_ID, dept_name and i_ID together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s_ID, dept_name → i_ID can be checked only by a join: it is not preserved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217920" y="19659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consequence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60320"/>
            <a:ext cx="512064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BCNF decomposition that preserves all dependencies does not always exist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 relaxes BCNF so that a dependency-preserving decomposition always exists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in words: an instructor belongs to one department; a student has at most one advisor per department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 normal form (3NF)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in 3NF with respect to F if, for every α → β in F⁺, at least one holds: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→ β is trivial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a superkey of R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attribute A in β − α is contained in a candidate key of 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BCNF schema is in 3NF; the third condition is the relaxation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dept_advisor is in 3NF: dept_name is part of the candidate key (s_ID, dept_name)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of 3NF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redundancy may remain (dept_name repeated for an instructor), and nulls may be needed to record some facts.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BCNF and 3NF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BCNF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Redundancy due to FDs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remain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Lossless decomposition always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preservation always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on one schema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Polynomial with attribute closure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NP-hard in general (prime attributes)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BCNF, lossless, dependency preserving; when this is impossible, choose between BCNF and 3NF (CQ7.2).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34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Functional-dependency theory: closure of a set of FDs, Armstrong's axioms, attribute closure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7, §7.4, pp. 320–329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Armstrong's axioms and derived rules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β ⊆ α, then α → 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α → β, then γα → γβ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α → β and β → γ, then α → 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α → β and α → γ, then α → βγ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from the axioms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α → βγ, then α → β and α → 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from the axioms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Pseudotransitivity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α → β and γβ → δ, then αγ → 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from the axioms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axioms are sound (they derive only FDs that hold) and complete (they derive all of F⁺).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soundness: augmentation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α → β holds on r. Take any t1, t2 in r with t1[γα] = t2[γα]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t1[γ] = t2[γ] and t1[α] = t2[α]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α → β holds, t1[β] = t2[β]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t1[γβ] = t2[γβ], hence γα → γβ holds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prove transitivity in the same way; derive union from augmentation and transitivity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union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→ β gives α → αβ (augment with α).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→ γ gives αβ → βγ (augment with β).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Transitivity: α → βγ.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closure α⁺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:= α;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FD β → γ in F 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β ⊆ result then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:= result ∪ γ;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result does not change;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result;   -- α⁺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(DSC §7.4)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(A, B, C, G, H, I)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 A → B, A → C, CG → H, CG → I, B → H }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(AG)⁺: AG → ABCG (A → B, A → C) → ABCGHI (CG → H, CG → I)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is a superkey; neither A⁺ nor G⁺ is R, so AG is a candidate key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 of attribute closure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Superkey test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a superkey iff α⁺ contains all attributes of 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 test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→ β is in F⁺ iff β ⊆ α⁺, without computing F⁺.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F⁺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γ ⊆ R, compute γ⁺ and output γ → S for every S ⊆ γ⁺ (exponential).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35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 theory (cont.): canonical cover, lossless decomposition, dependency preservation; proofs of soundness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7, §7.4, pp. 320–329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Extraneous attributes and canonical cover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Extraneous in α: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∈ α, A is extraneous if F logically implies (F − {α → β}) ∪ {(α − A) → β}; test: compute (α − A)⁺ under F, check β ⊆ result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Extraneous in β: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∈ β, A is extraneous if (F − {α → β}) ∪ {α → (β − A)} logically implies F; test: compute α⁺ under the new set, check A ∈ result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cover Fc: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F, no extraneous attributes, and each left side unique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repeat (union FDs with the same left side; remove one extraneous attribute) until nothing changes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(DSC §7.4)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(A, B, 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 A → BC, B → C, A → B, AB → C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extraneous in AB → C; C is extraneous in A → BC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= { A → B, B → C 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preservation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does decomposition {R1, ..., Rn} preserve α → β?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:= α;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Ri in the decomposition 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:= (result ∩ Ri)⁺ ∩ Ri;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:= result ∪ 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result does not change;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preserved iff β ⊆ result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and test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= restriction of F⁺ to Ri: FDs that can be checked inside Ri alone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decomposition is dependency preserving if (F1 ∪ … ∪ Fn)⁺ = F⁺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on the left takes polynomial time and never computes F⁺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FD is not preserved, checking it needs a join on every update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Lossless decomposition: why the test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if R1 ∩ R2 → R1, then Π_R1(r) ⋈ Π_R2(r) = 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⊆ join: every tuple of r agrees with its own projections (always true)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⊆ r: a joined tuple comes from t1 ∈ Π_R1(r) and t2 ∈ Π_R2(r) that agree on R1 ∩ R2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is the projection of some u ∈ r; u[R1 ∩ R2] = t1[R1 ∩ R2], and R1 ∩ R2 → R1 forces u[R1] = t1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joined tuple is u itself, which is in 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36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for decomposition: BCNF decomposition and 3NF synthesis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7, §7.5, pp. 330–335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BCNF decomposition algorithm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:= {R}; done := false;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not done 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some Ri in result is not in BCNF then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α → β be a nontrivial FD that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holds on Ri, with α → Ri not in F⁺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α ∩ β = ∅;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:= (result − Ri) ∪ (Ri − β) ∪ (α, β);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done := true;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lossless, so the result is lossless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in BCNF but may not preserve dependencies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decomposed Ri: for each α ⊆ Ri, α⁺ must contain either no attribute of Ri − α or all of Ri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F (not F⁺) is enough to test the original schema R, not a decomposed Ri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 synthesis algorithm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Fc be a canonical cover for F;  i :=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α → β in Fc 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:= i + 1;  Ri := α β;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 Rj contains a candidate key for R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:= i + 1;  Ri := any candidate key for R;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optionally remove redundant relations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some Rj is contained in another Rk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 Rj;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no more Rj can be deleted;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(R1, R2, ..., Ri);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(DSC §7.5)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cust_banker_branch(customer_id, employee_id, branch_name, type)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= { customer_id, employee_id → type;  employee_id → branch_name;  customer_id, branch_name → employee_id }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Schemas: (customer_id, employee_id, type), (customer_id, branch_name, employee_id); (employee_id, branch_name) is removed as contained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lossless, dependency preserving, 3NF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37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Multivalued dependencies and 4NF (overview); atomic domains and first normal form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7, §7.6, §7.8, pp. 336–340, 342 · Self-study: §7.7 More normal forms, p. 341; §7.9 Database-design process, pp. 343–346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 Multivalued dependencies and 4NF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BCNF schemas still contain redundancy that FDs cannot describe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instructor's children and phone numbers stored together in (ID, child_name, phone_number): every child is paired with every phone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MVD α →→ β: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tuples agreeing on α, the β-values and the values of the remaining attributes are independent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FD is also an MVD: if α → β then α →→ β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nontrivial α →→ β in D⁺, α is a superkey; every 4NF schema is in BCNF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decomposition: (ID, child_name) and (ID, phone_number)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 Atomic domains and first normal form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is atomic if its elements are considered indivisible units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in first normal form (1NF) if the domains of all attributes are atomic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Non-atomic examples: a set of names as one value; a composite attribute stored as one value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 depends on how the data is used: a course identifier such as CS-101 is non-atomic if programs extract the department from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 of this course assumes 1NF (Chapter 2)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Self-study: §7.7, §7.9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§7.7: other normal forms (e.g. PJNF, DKNF, second normal form).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§7.9: E-R modeling and normalization together; denormalization for performance.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CQ7.1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normal form can be seen as removing one kind of redundancy. What single idea unifies them?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violating dependency say about repeated values?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BCNF and 4NF conditions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role does 'superkey' play in each?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§7.3, §7.6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§7.7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CQ7.2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BCNF decomposition may lose a dependency. When would you accept 3NF instead, and what do you gain?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dept_advisor as the example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an unpreserved FD cost on each update?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redundancy does 3NF keep?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§7.3 (BCNF and dependency preservation; comparison)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CQ7.3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whether an attribute is prime is NP-complete. What does this mean for automatic schema design tools?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normal-form test needs prime attributes?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candidate keys can a schema have?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real schemas reach the worst case?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§7.3, §7.5 (testing for 3NF)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Lucchesi &amp; Osborn, Candidate keys for relations, JCSS 17(2), 1978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676656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6400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causes update, insertion and deletion anomalies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formalize when a decomposition is lossless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removes FD redundancy; 3NF always allows dependency preservation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Armstrong's axioms are sound and complete; attribute closure tests FDs and keys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covers and dependency-preservation tests drive the algorithms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decomposition and 3NF synthesis; MVDs and 4NF; 1NF and atomic domains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7498080" y="137160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session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965960"/>
            <a:ext cx="384048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CQ7.1–CQ7.3 and submit an answer within one week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§7.7 and §7.9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38: guided exercises; session 39: project milestone 1; session 40: Progress test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IDB201 Chapter 7 – Relational database design: functional dependencies and normal forms</dc:title>
  <dc:subject>PptxGenJS Presentation</dc:subject>
  <dc:creator>IDB201 course team</dc:creator>
  <cp:lastModifiedBy>IDB201 course team</cp:lastModifiedBy>
  <cp:revision>1</cp:revision>
  <dcterms:created xsi:type="dcterms:W3CDTF">2026-10-24T01:30:27Z</dcterms:created>
  <dcterms:modified xsi:type="dcterms:W3CDTF">2026-10-24T01:30:27Z</dcterms:modified>
</cp:coreProperties>
</file>
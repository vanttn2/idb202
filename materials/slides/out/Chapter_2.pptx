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schema diagram of the university database from DSC §2.4 on the board or from the textbook.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IDB201 – Introduction to Databases  ·  Chapter 2: Relational model and algebra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F3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7315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IDB201 – Introduction to Databases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7373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B8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Chapter 2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468880"/>
            <a:ext cx="10698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relational model and relational algebra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75488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A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4, 5, 6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A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textbook: Silberschatz, Korth &amp; Sudarshan, Database System Concepts, 7th ed. (2020) – Ch. 2, §2.1–2.6, pp. 37–57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Chapter 2 roadmap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3566160" cy="4480560"/>
          </a:xfrm>
          <a:prstGeom prst="roundRect">
            <a:avLst>
              <a:gd name="adj" fmla="val 3077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691640"/>
            <a:ext cx="685800" cy="68580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6916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7373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9659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relational model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606040"/>
            <a:ext cx="3291840" cy="3200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Structure of relational databases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Database schema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 Keys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 Schema diagrams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 as sets; keys and constraints as logic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97680" y="1463040"/>
            <a:ext cx="3566160" cy="4480560"/>
          </a:xfrm>
          <a:prstGeom prst="roundRect">
            <a:avLst>
              <a:gd name="adj" fmla="val 3077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26280" y="1691640"/>
            <a:ext cx="685800" cy="68580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26280" y="16916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0" y="17373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303520" y="19659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Relational algebra (1)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434840" y="2606040"/>
            <a:ext cx="3291840" cy="3200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 Relational query languages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Select, project, union, set difference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Cartesian product, rename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138160" y="1463040"/>
            <a:ext cx="3566160" cy="4480560"/>
          </a:xfrm>
          <a:prstGeom prst="roundRect">
            <a:avLst>
              <a:gd name="adj" fmla="val 3077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66760" y="1691640"/>
            <a:ext cx="685800" cy="68580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366760" y="16916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0" y="17373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9144000" y="19659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Relational algebra (2)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275320" y="2606040"/>
            <a:ext cx="3291840" cy="3200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Joins, intersection, assignment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Equivalent queries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Division and aggregation as extended operators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6304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B8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4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377440"/>
            <a:ext cx="10698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 of relational databases, database schema, keys, schema diagrams; the relational model as mathematics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5720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A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before class: DSC Ch. 2, §2.1–2.4, pp. 37–46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2.1 Structure of relational databases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25880"/>
            <a:ext cx="7040880" cy="4892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relational database is a collection of tables; each table has a unique name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1F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 </a:t>
            </a:r>
            <a:pPr indent="0" marL="0">
              <a:buNone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table, 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1F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tuple </a:t>
            </a:r>
            <a:pPr indent="0" marL="0">
              <a:buNone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row, attribute = column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domain of an attribute is its set of permitted values; domains are required to be atomic (indivisible)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null value signifies that a value is unknown or does not exist; nulls cause difficulties and are avoided where possible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order of tuples in a relation is irrelevant: a relation is a set of tuples</a:t>
            </a:r>
            <a:endParaRPr lang="en-US" sz="1600" dirty="0"/>
          </a:p>
        </p:txBody>
      </p:sp>
      <p:sp>
        <p:nvSpPr>
          <p:cNvPr id="4" name="card"/>
          <p:cNvSpPr/>
          <p:nvPr/>
        </p:nvSpPr>
        <p:spPr>
          <a:xfrm>
            <a:off x="7863840" y="1371600"/>
            <a:ext cx="3840480" cy="3291840"/>
          </a:xfrm>
          <a:prstGeom prst="roundRect">
            <a:avLst>
              <a:gd name="adj" fmla="val 3333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92440" y="15087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Vocabulary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092440" y="1965960"/>
            <a:ext cx="3383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 instance: the specific set of tuples a relation contains at a given time.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relational model as mathematics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25880"/>
            <a:ext cx="7040880" cy="4892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domains D1, …, Dn, a relation r is a subset of the Cartesian product D1 × D2 × … × Dn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r is a set: no duplicate tuples and no order among tuples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tuple is a mapping from attribute names to values; attribute order carries no meaning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are statements of logic that every legal instance must satisfy</a:t>
            </a:r>
            <a:endParaRPr lang="en-US" sz="1600" dirty="0"/>
          </a:p>
          <a:p>
            <a:pPr lvl="1" marL="4572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constraint for K on r:  ∀ t1, t2 ∈ r : t1[K] = t2[K] ⇒ t1 = t2</a:t>
            </a:r>
            <a:endParaRPr lang="en-US" sz="1600" dirty="0"/>
          </a:p>
          <a:p>
            <a:pPr lvl="1" marL="4572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 from r[A] to s[B]:  ∀ t ∈ r : ∃ u ∈ s : t[A] = u[B]</a:t>
            </a:r>
            <a:endParaRPr lang="en-US" sz="1600" dirty="0"/>
          </a:p>
        </p:txBody>
      </p:sp>
      <p:sp>
        <p:nvSpPr>
          <p:cNvPr id="4" name="card"/>
          <p:cNvSpPr/>
          <p:nvPr/>
        </p:nvSpPr>
        <p:spPr>
          <a:xfrm>
            <a:off x="7863840" y="1371600"/>
            <a:ext cx="3840480" cy="3291840"/>
          </a:xfrm>
          <a:prstGeom prst="roundRect">
            <a:avLst>
              <a:gd name="adj" fmla="val 3333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92440" y="15087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092440" y="1965960"/>
            <a:ext cx="3383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Treating relations as sets is what makes relational algebra (sessions 5–6) and design theory (Chapter 7) possible. SQL tables are bags, not sets – see the self-study on bag semantics in Chapter 3.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2.2 Database schema: schema vs. instance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6583680" cy="4846320"/>
          </a:xfrm>
          <a:prstGeom prst="roundRect">
            <a:avLst>
              <a:gd name="adj" fmla="val 1509"/>
            </a:avLst>
          </a:prstGeom>
          <a:solidFill>
            <a:srgbClr val="F4F6F7"/>
          </a:solidFill>
          <a:ln w="12700">
            <a:solidFill>
              <a:srgbClr val="C9D3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63040"/>
            <a:ext cx="62179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department(dept_name, building, budget)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course(course_id, title, dept_name, credits)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instructor(ID, name, dept_name, salary)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section(course_id, sec_id, semester, year,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building, room_number, time_slot_id)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teaches(ID, course_id, sec_id, semester, year)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student(ID, name, dept_name, tot_cred)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takes(ID, course_id, sec_id, semester, year, grade)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advisor(s_ID, i_ID)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prereq(course_id, prereq_id)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0" y="132588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University schema (part)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0" y="1828800"/>
            <a:ext cx="4389120" cy="434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relation schema is a list of attributes with their domains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relation instance changes over time; the schema rarely does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schemas follow the university database of DSC (Appendix A)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2.3 Keys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471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937760"/>
                <a:gridCol w="4114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University example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4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Superkey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set of one or more attributes whose values uniquely identify a tuple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{ID}, {ID, name} on instructor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Candidate key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minimal superkey: no proper subset is a superkey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{ID} on instructor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key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candidate key chosen by the designer as the principal means of identification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 for instructor; (course_id, sec_id, semester, year) for section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Foreign key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Attributes of the referencing relation whose values must appear as the primary key of the referenced relation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instructor.dept_name references department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Referential integrity constraint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Values in specified attributes of a referencing tuple must appear in specified attributes of some referenced tuple (need not be a primary key)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section.time_slot_id must appear in time_slot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2.4 Schema diagrams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5486400" cy="2263140"/>
          </a:xfrm>
          <a:prstGeom prst="roundRect">
            <a:avLst>
              <a:gd name="adj" fmla="val 4848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457200" cy="45720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55448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Boxes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103120"/>
            <a:ext cx="5120640" cy="1394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relation is a box: its name on top, its attributes listed inside.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0" y="1371600"/>
            <a:ext cx="5486400" cy="2263140"/>
          </a:xfrm>
          <a:prstGeom prst="roundRect">
            <a:avLst>
              <a:gd name="adj" fmla="val 4848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554480"/>
            <a:ext cx="457200" cy="45720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995160" y="155448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Primary keys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2103120"/>
            <a:ext cx="5120640" cy="1394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Primary-key attributes are underlined.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909060"/>
            <a:ext cx="5486400" cy="2263140"/>
          </a:xfrm>
          <a:prstGeom prst="roundRect">
            <a:avLst>
              <a:gd name="adj" fmla="val 4848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4091940"/>
            <a:ext cx="457200" cy="45720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40919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409194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Foreign keys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4640580"/>
            <a:ext cx="5120640" cy="1394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Arrows from foreign-key attributes of the referencing relation to the primary key of the referenced relation.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217920" y="3909060"/>
            <a:ext cx="5486400" cy="2263140"/>
          </a:xfrm>
          <a:prstGeom prst="roundRect">
            <a:avLst>
              <a:gd name="adj" fmla="val 4848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0" y="4091940"/>
            <a:ext cx="457200" cy="45720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0" y="40919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995160" y="409194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Other referential constraints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0" y="4640580"/>
            <a:ext cx="5120640" cy="1394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Referential integrity constraints that are not foreign keys are drawn with a two-headed arrow.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6304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B8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5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377440"/>
            <a:ext cx="10698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Relational query languages; relational algebra: select, project, union, set difference, Cartesian product, rename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5720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A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before class: DSC Ch. 2, §2.5–2.6, pp. 47–57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2.5 Relational query languages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algebra and relational calculus are “pure” languages: terse and formal, they show the fundamental techniques behind SQL.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965960"/>
            <a:ext cx="3566160" cy="4206240"/>
          </a:xfrm>
          <a:prstGeom prst="roundRect">
            <a:avLst>
              <a:gd name="adj" fmla="val 3077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148840"/>
            <a:ext cx="457200" cy="45720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1488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Imperative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697480"/>
            <a:ext cx="3200400" cy="3337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tells the system to perform a specific sequence of operations.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97680" y="1965960"/>
            <a:ext cx="3566160" cy="4206240"/>
          </a:xfrm>
          <a:prstGeom prst="roundRect">
            <a:avLst>
              <a:gd name="adj" fmla="val 3077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80560" y="2148840"/>
            <a:ext cx="457200" cy="45720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8056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074920" y="21488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480560" y="2697480"/>
            <a:ext cx="3200400" cy="3337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 is the evaluation of functions on data; relational algebra is a functional language.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138160" y="1965960"/>
            <a:ext cx="3566160" cy="4206240"/>
          </a:xfrm>
          <a:prstGeom prst="roundRect">
            <a:avLst>
              <a:gd name="adj" fmla="val 3077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21040" y="2148840"/>
            <a:ext cx="457200" cy="45720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915400" y="21488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Declarative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2697480"/>
            <a:ext cx="3200400" cy="3337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describes the desired information without steps; tuple and domain relational calculus are declarative.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operators of relational algebra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4712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828800"/>
                <a:gridCol w="64922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Symbol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4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Tuples that satisfy a predicate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Π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Chosen attributes; duplicates are removed (relations are sets)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∪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Tuples in either input (inputs must be compatible)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 difference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Tuples in the first input but not the second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Cartesian product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tuple of the first combined with every tuple of the second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Rename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ρ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Gives a name to a relation (and optionally its attributes)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⋈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Cartesian product followed by a selection (session 6)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Intersection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∩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Tuples in both inputs (session 6)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Assignment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←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Stores an intermediate result in a temporary relation (session 6)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 and project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6583680" cy="4846320"/>
          </a:xfrm>
          <a:prstGeom prst="roundRect">
            <a:avLst>
              <a:gd name="adj" fmla="val 1509"/>
            </a:avLst>
          </a:prstGeom>
          <a:solidFill>
            <a:srgbClr val="F4F6F7"/>
          </a:solidFill>
          <a:ln w="12700">
            <a:solidFill>
              <a:srgbClr val="C9D3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63040"/>
            <a:ext cx="62179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σ dept_name = "Physics" (instructor)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σ dept_name = "Physics" ∧ salary &gt; 90000 (instructor)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Π ID, name, salary (instructor)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composition: names of physics instructors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Π name (σ dept_name = "Physics" (instructor))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0" y="132588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0" y="1828800"/>
            <a:ext cx="4389120" cy="434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predicates use =, ≠, &lt;, ≤, &gt;, ≥ combined with ∧ (and), ∨ (or), ¬ (not)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 returns a set, so duplicate rows are eliminated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 of every operation is a relation, so operations compose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Union, set difference and compatibility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6583680" cy="4846320"/>
          </a:xfrm>
          <a:prstGeom prst="roundRect">
            <a:avLst>
              <a:gd name="adj" fmla="val 1509"/>
            </a:avLst>
          </a:prstGeom>
          <a:solidFill>
            <a:srgbClr val="F4F6F7"/>
          </a:solidFill>
          <a:ln w="12700">
            <a:solidFill>
              <a:srgbClr val="C9D3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63040"/>
            <a:ext cx="62179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courses taught in Fall 2017 or in Spring 2018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Π course_id (σ semester = "Fall" ∧ year = 2017 (section))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∪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Π course_id (σ semester = "Spring" ∧ year = 2018 (section))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taught in Fall 2017 but not in Spring 2018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Π course_id (σ semester = "Fall" ∧ year = 2017 (section))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−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Π course_id (σ semester = "Spring" ∧ year = 2018 (section))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0" y="132588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Compatibility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0" y="1828800"/>
            <a:ext cx="4389120" cy="434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inputs must have the same number of attributes (same arity)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Corresponding attribute types must be compatible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in the style of DSC §2.6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Cartesian product and rename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6583680" cy="4846320"/>
          </a:xfrm>
          <a:prstGeom prst="roundRect">
            <a:avLst>
              <a:gd name="adj" fmla="val 1509"/>
            </a:avLst>
          </a:prstGeom>
          <a:solidFill>
            <a:srgbClr val="F4F6F7"/>
          </a:solidFill>
          <a:ln w="12700">
            <a:solidFill>
              <a:srgbClr val="C9D3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63040"/>
            <a:ext cx="62179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every instructor paired with every teaches tuple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instructor × teaches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keep only matching pairs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σ instructor.ID = teaches.ID (instructor × teaches)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rename: compare a relation with itself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Π instructor.salary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(σ instructor.salary &lt; d.salary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(instructor × ρ d (instructor)))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0" y="132588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0" y="1828800"/>
            <a:ext cx="4389120" cy="434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r has n1 tuples and s has n2, r × s has n1 · n2 tuples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 with the same name are distinguished by relation name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 x (E) returns E under the name x; needed to use one relation twice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last query returns every salary that is smaller than some other salary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6304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B8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6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377440"/>
            <a:ext cx="10698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Relational algebra (cont.): joins, intersection, assignment, equivalent queries; division and aggregation as extended operators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5720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A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before class: DSC Ch. 2, §2.6, pp. 48–57 · Self-study: relational calculus (DSC online Ch. 27) with worksheet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join operation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6583680" cy="4846320"/>
          </a:xfrm>
          <a:prstGeom prst="roundRect">
            <a:avLst>
              <a:gd name="adj" fmla="val 1509"/>
            </a:avLst>
          </a:prstGeom>
          <a:solidFill>
            <a:srgbClr val="F4F6F7"/>
          </a:solidFill>
          <a:ln w="12700">
            <a:solidFill>
              <a:srgbClr val="C9D3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63040"/>
            <a:ext cx="62179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⋈θ s  =  σθ (r × s)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instructors with the courses they teach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instructor ⋈ instructor.ID = teaches.ID teaches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names and course ids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Π name, course_id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(instructor ⋈ instructor.ID = teaches.ID teaches)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0" y="132588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Definition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0" y="1828800"/>
            <a:ext cx="4389120" cy="434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join combines a Cartesian product and a selection into one operation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 is a predicate over the attributes of r and 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the join directly is clearer and lets a system evaluate it efficiently (Chapter 9)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Intersection and assignment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371600"/>
            <a:ext cx="5486400" cy="4800600"/>
          </a:xfrm>
          <a:prstGeom prst="roundRect">
            <a:avLst>
              <a:gd name="adj" fmla="val 2286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5087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 intersection ∩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65960"/>
            <a:ext cx="5120640" cy="406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∩ s contains the tuples in both r and 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must be compatible, as for union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basic operator: r ∩ s = r − (r − s)</a:t>
            </a:r>
            <a:endParaRPr lang="en-US" sz="1500" dirty="0"/>
          </a:p>
        </p:txBody>
      </p:sp>
      <p:sp>
        <p:nvSpPr>
          <p:cNvPr id="6" name="card"/>
          <p:cNvSpPr/>
          <p:nvPr/>
        </p:nvSpPr>
        <p:spPr>
          <a:xfrm>
            <a:off x="6217920" y="1371600"/>
            <a:ext cx="5486400" cy="4800600"/>
          </a:xfrm>
          <a:prstGeom prst="roundRect">
            <a:avLst>
              <a:gd name="adj" fmla="val 2286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46520" y="15087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Assignment ←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1965960"/>
            <a:ext cx="5120640" cy="406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← E stores the result of E under the name temp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a long expression into readable steps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no expressive power: the name can be replaced by its expression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Equivalent queries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6583680" cy="4846320"/>
          </a:xfrm>
          <a:prstGeom prst="roundRect">
            <a:avLst>
              <a:gd name="adj" fmla="val 1509"/>
            </a:avLst>
          </a:prstGeom>
          <a:solidFill>
            <a:srgbClr val="F4F6F7"/>
          </a:solidFill>
          <a:ln w="12700">
            <a:solidFill>
              <a:srgbClr val="C9D3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63040"/>
            <a:ext cx="62179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query 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σ dept_name = "Physics" ∧ salary &gt; 90000 (instructor)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query B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σ dept_name = "Physics" (σ salary &gt; 90000 (instructor))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query C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σ dept_name = "Physics" (instructor ⋈ instructor.ID = teaches.ID teaches)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query 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(σ dept_name = "Physics" (instructor)) ⋈ instructor.ID = teaches.ID teaches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0" y="132588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result, different form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0" y="1828800"/>
            <a:ext cx="4389120" cy="434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expressions are equivalent if they give the same result on every database instance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and B: a conjunctive selection equals a cascade of selections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and D: a selection can be pushed below the join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optimizers use such equivalences (Chapter 9)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Extended operator: division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6583680" cy="4846320"/>
          </a:xfrm>
          <a:prstGeom prst="roundRect">
            <a:avLst>
              <a:gd name="adj" fmla="val 1509"/>
            </a:avLst>
          </a:prstGeom>
          <a:solidFill>
            <a:srgbClr val="F4F6F7"/>
          </a:solidFill>
          <a:ln w="12700">
            <a:solidFill>
              <a:srgbClr val="C9D3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63040"/>
            <a:ext cx="62179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students who have taken ALL Biology courses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Π ID, course_id (takes)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÷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Π course_id (σ dept_name = "Biology" (course))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division expressed with basic operators,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for r(R) and s(S), S ⊆ R: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÷ s = Π R−S (r) −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Π R−S ((Π R−S (r) × s) − Π R−S,S (r))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0" y="132588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“For all” queries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0" y="1828800"/>
            <a:ext cx="4389120" cy="434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÷ s returns the tuples t such that, for every tuple u of s, the combination of t and u is in 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Division adds no expressive power: it is definable from the basic operators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calculus expresses the same idea with ∀ (self-study)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Extended operator: aggregation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6583680" cy="4846320"/>
          </a:xfrm>
          <a:prstGeom prst="roundRect">
            <a:avLst>
              <a:gd name="adj" fmla="val 1509"/>
            </a:avLst>
          </a:prstGeom>
          <a:solidFill>
            <a:srgbClr val="F4F6F7"/>
          </a:solidFill>
          <a:ln w="12700">
            <a:solidFill>
              <a:srgbClr val="C9D3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63040"/>
            <a:ext cx="62179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average salary in each department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dept_name 𝒢 avg(salary) (instructor)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total budget of all departments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𝒢 sum(budget) (department)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number of distinct instructors teaching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in Spring 2018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𝒢 count-distinct(ID)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(σ semester = "Spring" ∧ year = 2018 (teaches))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0" y="132588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0" y="1828800"/>
            <a:ext cx="4389120" cy="434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G1, …, Gn 𝒢 F1(A1), …, Fm(Am) (E) groups E by the G attributes and applies an aggregate function to each group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functions: sum, avg, count, min, max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 goes beyond the basic algebra; SQL's group by (Chapter 3) corresponds to it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Self-study: relational calculus (online Ch. 27)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25880"/>
            <a:ext cx="7040880" cy="4892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1F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Tuple relational calculus: </a:t>
            </a:r>
            <a:pPr indent="0" marL="0">
              <a:buNone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of the form { t | P(t) }, with ∃ and ∀ over tuples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1F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relational calculus: </a:t>
            </a:r>
            <a:pPr indent="0" marL="0">
              <a:buNone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range over attribute values instead of whole tuples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1F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Safety: </a:t>
            </a:r>
            <a:pPr indent="0" marL="0">
              <a:buNone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expressions whose result is finite and built from values in the database are allowed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1F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Codd's theorem: </a:t>
            </a:r>
            <a:pPr indent="0" marL="0">
              <a:buNone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algebra and safe relational calculus have the same expressive power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worksheet; it is reviewed in session 8 and assessed in Progress test 1</a:t>
            </a:r>
            <a:endParaRPr lang="en-US" sz="1600" dirty="0"/>
          </a:p>
        </p:txBody>
      </p:sp>
      <p:sp>
        <p:nvSpPr>
          <p:cNvPr id="4" name="card"/>
          <p:cNvSpPr/>
          <p:nvPr/>
        </p:nvSpPr>
        <p:spPr>
          <a:xfrm>
            <a:off x="7863840" y="1371600"/>
            <a:ext cx="3840480" cy="3291840"/>
          </a:xfrm>
          <a:prstGeom prst="roundRect">
            <a:avLst>
              <a:gd name="adj" fmla="val 3333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92440" y="15087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(TRC)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092440" y="1965960"/>
            <a:ext cx="3383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Instructors earning more than 80,000: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 t | t ∈ instructor ∧ t[salary] &gt; 80000 }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 and next steps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371600"/>
            <a:ext cx="6766560" cy="4800600"/>
          </a:xfrm>
          <a:prstGeom prst="roundRect">
            <a:avLst>
              <a:gd name="adj" fmla="val 2286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508760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points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65960"/>
            <a:ext cx="6400800" cy="406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relation is a set of tuples over atomic domains; schema ≠ instance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Superkey, candidate key, primary key, foreign key and referential integrity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algebra: σ, Π, ∪, −, ×, ρ, plus ⋈, ∩, ← defined from them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Equivalent expressions give the same result on every instance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Division (“for all”) and aggregation extend the basic algebra</a:t>
            </a:r>
            <a:endParaRPr lang="en-US" sz="1500" dirty="0"/>
          </a:p>
        </p:txBody>
      </p:sp>
      <p:sp>
        <p:nvSpPr>
          <p:cNvPr id="6" name="card"/>
          <p:cNvSpPr/>
          <p:nvPr/>
        </p:nvSpPr>
        <p:spPr>
          <a:xfrm>
            <a:off x="7498080" y="1371600"/>
            <a:ext cx="4206240" cy="4800600"/>
          </a:xfrm>
          <a:prstGeom prst="roundRect">
            <a:avLst>
              <a:gd name="adj" fmla="val 2609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26680" y="15087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the next session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680960" y="1965960"/>
            <a:ext cx="3840480" cy="406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relational-calculus worksheet (DSC online Ch. 27)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7: assignment introduction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8: guided exercises (DSC Ch. 2 Exercises, pp. 60–62) and CQ2.1–CQ2.3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IDB201 Chapter 2 – The relational model and relational algebra</dc:title>
  <dc:subject>PptxGenJS Presentation</dc:subject>
  <dc:creator>IDB201 course team</dc:creator>
  <cp:lastModifiedBy>IDB201 course team</cp:lastModifiedBy>
  <cp:revision>1</cp:revision>
  <dcterms:created xsi:type="dcterms:W3CDTF">2026-10-24T01:30:27Z</dcterms:created>
  <dcterms:modified xsi:type="dcterms:W3CDTF">2026-10-24T01:30:27Z</dcterms:modified>
</cp:coreProperties>
</file>
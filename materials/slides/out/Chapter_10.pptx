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example follows the instructor/Physics phantom discussion in DSC §17.10 and §18.4.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Briefing for the self-study of Chapter 19: §19.2, §19.4 in full, §19.5–19.6; ARIES (§19.9) is optional.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IDB201 – Introduction to Databases  ·  Chapter 10: Transactions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3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IDB201 – Introduction to Databases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10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6888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Transactions, concurrency control and recovery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7548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49, 50, 51, 53, 55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textbook: Silberschatz, Korth &amp; Sudarshan, Database System Concepts, 7th ed. (2020) – DSC Ch. 17, §17.1–17.10; Ch. 18, §18.1–18.2, §18.4, §18.8; Ch. 19, §19.1, §19.3–19.4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10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49–50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65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606040"/>
            <a:ext cx="233172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17.1–17.4 Concept, model, storage, atomicity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17.10 Transactions in SQL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17.5–17.6 Isolation, serializability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1965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Schedules and locking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606040"/>
            <a:ext cx="233172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17.7 Recoverable, cascadeless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17.8–17.9 Isolation levels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18.1 Two-phase locking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1965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Concurrency in practice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2606040"/>
            <a:ext cx="233172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 Deadlocks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 Phantoms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18.8 Snapshot isolation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098280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2688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010412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104120" y="1965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2606040"/>
            <a:ext cx="233172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19.1 Failures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19.3 Write-ahead logging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19.4 Recovery algorithm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CQ10.1–CQ10.3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49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concept, a simple transaction model, storage structure, atomicity and durability; transactions as SQL statements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Ch. 17, §17.1–17.4, pp. 799–806; §17.10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17.1 The ACID properties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is a unit of program execution that accesses and possibly updates data items.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4884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1488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Atomicity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97480"/>
            <a:ext cx="512064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all operations of the transaction are reflected in the database, or none are.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96596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14884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21488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697480"/>
            <a:ext cx="512064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in isolation, a transaction preserves the consistency of the database.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38912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3891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937760"/>
            <a:ext cx="512064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transaction is unaware of other transactions executing concurrently.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420624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438912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43891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Durability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937760"/>
            <a:ext cx="512064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transaction completes successfully, its changes persist, even if the system fails.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17.2 A simple transaction model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Ti transfers 50 from account A to account 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Ti:  read(A);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 := A - 50;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write(A);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read(B);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B := B + 50;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write(B).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 with the model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read(X) copies X from the database into a local buffer; write(X) copies it back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Consistency: A + B is unchanged by the transaction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Atomicity: a failure after write(A) but before write(B) must not leave the change to 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Durability: once the user is told the transfer is done, it must survive a crash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Isolation: another transaction must not see A already debited but B not yet credited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17.3–17.4 Storage and transaction states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types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512064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Volatile: main memory, cache; lost in a crash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Non-volatile: disk, flash; survives crashes, may fail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Stable: never lost (an idealization, approximated by replication); the log is kept here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6217920" y="137160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states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65960"/>
            <a:ext cx="512064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→ partially committed (last statement executed) → committed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or partially committed → failed → aborted (rolled back)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an abort, the system can restart the transaction or kill 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 external writes (e.g. printing a ticket) are delayed until commit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17.10 Transactions as SQL statements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SQL Server: autocommit unless a transaction is started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transaction;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 account set balance = balance - 50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 account_id = 'A';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 account set balance = balance + 50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 account_id = 'B';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transaction;     -- or: rollback transaction;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standard SQL: commit work / rollback work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default, many systems commit each SQL statement as its own transaction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groups statements into one atomic unit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can read with a predicate (where clause): the phantom problem of §18.4 comes from such reads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inside procedures: Chapter 5 (TRY…CATCH)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50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isolation; serializability: conflict serializability and precedence graphs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Ch. 17, §17.5–17.6, pp. 807–818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17.5 Transaction isolation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1124712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execution improves throughput and resource utilization, and reduces waiting time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 is a sequence of the instructions of a set of transactions, preserving the order within each transaction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schedule: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transactions run one after another; always consistent if each transaction is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schedules can leave the database inconsistent, e.g. a lost update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concurrency-control component of the DBMS must allow only schedules that are equivalent to some serial schedule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17.6 Conflict serializability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Conflicting instructions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512064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of Ti and Tj conflict if they access the same item Q and at least one of them is write(Q)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read–read does not conflict; read–write, write–read and write–write do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adjacent non-conflicting instructions gives a conflict-equivalent schedule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6217920" y="137160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65960"/>
            <a:ext cx="512064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 is conflict serializable if it is conflict equivalent to a serial schedule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serializability is a weaker condition; testing it is NP-complete, so systems use conflict serializability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Precedence graphs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schedule S (time goes down)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T1             T2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read(A)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read(A)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write(A)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write(A)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edges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T1 -&gt; T2   (T1 reads A before T2 writes 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T2 -&gt; T1   (T2 reads A before T1 writes 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cycle: S is not conflict serializable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Vertices: the transactions; edge Ti → Tj if an instruction of Ti conflicts with a later instruction of Tj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is conflict serializable iff its precedence graph is acyclic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topological order of an acyclic graph gives an equivalent serial order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example is a lost update: T1's write is overwritten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 part 2 builds precedence graphs from observed schedules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51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Recoverable and cascadeless schedules; isolation levels and their implementation; two-phase locking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Ch. 17, §17.7–17.9, pp. 819–827; Ch. 18, §18.1, pp. 835–848 · Self-study: §18.3 Multiple granularity, pp. 853–856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17.7 Recoverable and cascadeless schedules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Recoverable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512064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Tj reads a data item written by Ti, then Ti commits before Tj commits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Otherwise, if Ti aborts after Tj committed, Tj's effect cannot be undone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6217920" y="137160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Cascadeless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65960"/>
            <a:ext cx="512064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Tj reads a data item written by Ti, then Ti commits before Tj reads 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cascading rollback: one abort forcing many others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cascadeless schedule is recoverable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17.8 Isolation levels in SQL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560320"/>
                <a:gridCol w="274320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Dirty read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Non-repeatable read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Phantom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uncommitted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committed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possible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Repeatable read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possible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possible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Serializable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possible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possible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possible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8064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levels forbid dirty writes. SQL Server also offers snapshot isolation; its default is read committed. 17.9: levels are implemented by locking, timestamps or multiple versions.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18.1 Lock-based protocols: two-phase locking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704088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modes: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(S) for reading, exclusive (X) for writing; S is compatible only with 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locking (2PL):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phase (obtain locks, release none), then shrinking phase (release locks, obtain none)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point: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a transaction obtains its last lock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2PL ensures conflict serializability: order the transactions by their lock points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2PL: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locks are held until commit or abort, which makes schedules cascadeless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2PL: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locks are held until commit or abort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2PL does not prevent deadlocks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863840" y="137160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 to CQ10.2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9659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two-phase locking guarantee serializability? Explain the idea of the lock point.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53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Deadlock handling; insert, delete and predicate reads (phantoms); snapshot isolation (overview)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Ch. 18, §18.2, pp. 849–852; §18.4, pp. 857–860; §18.8, pp. 872–879 · Self-study: §18.5, pp. 861–865; §18.7, pp. 869–871; §18.9, pp. 880–882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18.2 Deadlock handling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512064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the data items and lock them in that order, or lock everything at the start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Wait-die and wound-wait: use timestamps to decide who waits and who rolls back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timeouts: roll back a transaction that waits too long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6217920" y="137160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and recovery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65960"/>
            <a:ext cx="512064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Wait-for graph: edge Ti → Tj if Ti waits for a lock held by Tj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deadlock exists iff the graph has a cycle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victim (minimum cost), roll it back (totally or partially), avoid starvation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detects deadlocks and rolls back a victim with error 1205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18.4 Phantoms: insert, delete and predicate reads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1124712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T1: select count(*) from instructor where dept_name = 'Physics'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T2: insert into instructor values ('11111', 'Feynman', 'Physics', 94000)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and T2 conflict on a tuple T1 never read: the phantom phenomenon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Locking only the tuples that were read is not enough; the predicate must be protected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Index-locking protocol: lock the index leaf nodes that the predicate covers (in SQL Server: key-range locks at the serializable level)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18.8 Snapshot isolation (overview)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1124712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transaction reads from a snapshot of the committed data as of its start; reads never wait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are kept private until commit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First-committer-wins (or first-updater-wins): of two concurrent transactions updating the same item, only one may commit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isolation is not serializable: write skew is possible</a:t>
            </a:r>
            <a:endParaRPr lang="en-US" sz="16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two concurrent transactions each check a constraint over two items and each update a different item; both commit, the constraint is violated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Server: set transaction isolation level snapshot (after allow_snapshot_isolation is enabled for the database)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55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 system (overview): failure classification, recovery and atomicity (write-ahead logging), recovery algorithm (main ideas)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Ch. 19, §19.1, §19.3, pp. 907, 912–921 · Self-study: §19.2, pp. 908–911; §19.4, pp. 922–925; §19.5–19.6, pp. 926–930; optional §19.9 ARIES, pp. 941–946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19.1 Failure classification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566160" cy="480060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failure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3200400" cy="3931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error (bad input, overflow) or system error (e.g. deadlock): the transaction cannot continue.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566160" cy="480060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55448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05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crash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103120"/>
            <a:ext cx="3200400" cy="3931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or software failure loses volatile storage; non-volatile storage is assumed intact (fail-stop).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566160" cy="480060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55448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Disk failure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103120"/>
            <a:ext cx="3200400" cy="3931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head crash or similar destroys part of non-volatile storage; recovery uses archived copies.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19.3 Log records and write-ahead logging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 start&gt;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&lt;Ti, Xj, V1, V2&gt;   -- Ti wrote Xj: old value V1, new value V2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 commit&gt;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 abort&gt;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example: Ti transfers 50 from A (1000) to B (2000)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 start&gt;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&lt;Ti, A, 1000, 950&gt;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&lt;Ti, B, 2000, 2050&gt;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 commit&gt;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Write-ahead logging (WAL): a log record must reach stable storage before the data block it describes is written to disk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commits when its commit record reaches stable storage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undo(Ti) restores old values; redo(Ti) reapplies new values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&lt;checkpoint L&gt; limit how much of the log must be scanned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19.4 Recovery algorithm (main ideas)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Redo phase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512064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log forward from the last checkpoint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history: redo every update record, including those of incomplete transactions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undo-list: transactions started but neither committed nor aborted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6217920" y="137160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Undo phase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65960"/>
            <a:ext cx="512064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log backward, undoing the updates of transactions in the undo-list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undo writes a redo-only log record, so recovery itself is restartable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&lt;Ti start&gt; is reached, write &lt;Ti abort&gt;; stop when the undo-list is empty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Constructivist question CQ10.1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1737360"/>
          </a:xfrm>
          <a:prstGeom prst="roundRect">
            <a:avLst>
              <a:gd name="adj" fmla="val 6316"/>
            </a:avLst>
          </a:prstGeom>
          <a:solidFill>
            <a:srgbClr val="1F3B4D"/>
          </a:solidFill>
          <a:ln w="12700">
            <a:solidFill>
              <a:srgbClr val="1F3B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serializability the accepted correctness criterion for concurrent transactions? What weaker criteria do real systems use, and why?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prompts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49040"/>
            <a:ext cx="6949440" cy="2423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serial schedule guarantee if each transaction is correct?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isolation level is the default in SQL Server?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anomalies do weaker levels allow?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7863840" y="3337560"/>
            <a:ext cx="3840480" cy="2834640"/>
          </a:xfrm>
          <a:prstGeom prst="roundRect">
            <a:avLst>
              <a:gd name="adj" fmla="val 387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92440" y="3474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look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3931920"/>
            <a:ext cx="347472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§17.5–17.8, §18.9 (self-study)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Berenson et al., A critique of ANSI SQL isolation levels, SIGMOD 1995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Constructivist question CQ10.2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1737360"/>
          </a:xfrm>
          <a:prstGeom prst="roundRect">
            <a:avLst>
              <a:gd name="adj" fmla="val 6316"/>
            </a:avLst>
          </a:prstGeom>
          <a:solidFill>
            <a:srgbClr val="1F3B4D"/>
          </a:solidFill>
          <a:ln w="12700">
            <a:solidFill>
              <a:srgbClr val="1F3B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two-phase locking guarantee serializability? Explain the idea of the lock point.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prompts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49040"/>
            <a:ext cx="6949440" cy="2423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the transactions by their lock points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the precedence graph had a cycle: what would it say about lock points?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2PL sufficient but not necessary?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7863840" y="3337560"/>
            <a:ext cx="3840480" cy="2834640"/>
          </a:xfrm>
          <a:prstGeom prst="roundRect">
            <a:avLst>
              <a:gd name="adj" fmla="val 387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92440" y="3474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look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3931920"/>
            <a:ext cx="347472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§18.1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Eswaran et al., The notions of consistency and predicate locks in a database system, CACM 1976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Constructivist question CQ10.3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1737360"/>
          </a:xfrm>
          <a:prstGeom prst="roundRect">
            <a:avLst>
              <a:gd name="adj" fmla="val 6316"/>
            </a:avLst>
          </a:prstGeom>
          <a:solidFill>
            <a:srgbClr val="1F3B4D"/>
          </a:solidFill>
          <a:ln w="12700">
            <a:solidFill>
              <a:srgbClr val="1F3B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must a log record reach stable storage before the data page it describes (write-ahead logging)?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prompts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49040"/>
            <a:ext cx="6949440" cy="2423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after the data page is written but before the log record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undo do without the old value?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 to steal / no-force buffer policies (§19.5)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7863840" y="3337560"/>
            <a:ext cx="3840480" cy="2834640"/>
          </a:xfrm>
          <a:prstGeom prst="roundRect">
            <a:avLst>
              <a:gd name="adj" fmla="val 387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92440" y="3474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look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3931920"/>
            <a:ext cx="347472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§19.3; self-study §19.5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Mohan et al., ARIES, ACM TODS 1992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and next steps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676656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640080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ACID; the read/write transaction model; transaction states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serializability tested with precedence graphs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and cascadeless schedules; SQL isolation levels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locking and the lock point; strict 2PL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Deadlocks, phantoms and snapshot isolation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Write-ahead logging; redo and undo phases of recovery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7498080" y="1371600"/>
            <a:ext cx="4206240" cy="4800600"/>
          </a:xfrm>
          <a:prstGeom prst="roundRect">
            <a:avLst>
              <a:gd name="adj" fmla="val 2609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26680" y="1508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 next session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1965960"/>
            <a:ext cx="384048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of CQ10.1–CQ10.3 and submit an answer within one week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Self-study: §18.3, §18.5, §18.7, §18.9; Chapter 19 sections listed above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56–57: project presentations; 58–59: course review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IDB201 Chapter 10 – Transactions, concurrency control and recovery</dc:title>
  <dc:subject>PptxGenJS Presentation</dc:subject>
  <dc:creator>IDB201 course team</dc:creator>
  <cp:lastModifiedBy>IDB201 course team</cp:lastModifiedBy>
  <cp:revision>1</cp:revision>
  <dcterms:created xsi:type="dcterms:W3CDTF">2026-10-24T01:30:27Z</dcterms:created>
  <dcterms:modified xsi:type="dcterms:W3CDTF">2026-10-24T01:30:27Z</dcterms:modified>
</cp:coreProperties>
</file>
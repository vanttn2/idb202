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to CQ4.2: a (non-materialized) view costs nothing extra at run time because the query is rewritten in terms of the base relations.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IDB201 – Introduction to Databases  ·  Chapter 4: Intermediate SQL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IDB201 – Introduction to Databases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4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4688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Intermediate SQL: joins, views, constraints, recursion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15, 16, 17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textbook: Silberschatz, Korth &amp; Sudarshan, Database System Concepts, 7th ed. (2020) – Ch. 4, §4.1–4.6, pp. 125–164; §5.4, pp. 213–218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4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Joins and views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606040"/>
            <a:ext cx="329184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Join expressions: natural, inner, outer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Views, materialized views, view update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 and types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606040"/>
            <a:ext cx="329184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Transactions (preview)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Integrity constraints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SQL data types and schemas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Self-study: §4.7 Authorization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146304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691640"/>
            <a:ext cx="685800" cy="68580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1691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1737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19659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Indexes and recursion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606040"/>
            <a:ext cx="3291840" cy="3200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Index definition in SQL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Recursive queries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Transitive closure and the limits of relational algebra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15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expressions and views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4, §4.1–4.2, pp. 125–142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Join expressions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natural join: equal values on all common attributes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course_id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student natural join takes;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join ... using: only the listed attributes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title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(student natural join takes)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join course using (course_id);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join ... on: any predicate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student join takes on student.ID = takes.ID;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join keeps one copy of each common attribute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join can equate attributes by accident when two relations share a name (e.g. dept_name)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… on allows a general predicate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note: natural join and using are not supported; write join … 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Outer joins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every student, with the courses taken if any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student left outer join takes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on student.ID = takes.ID;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students who have taken no course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student left outer join takes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on student.ID = takes.ID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takes.course_id is null;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right outer join, full outer join: similar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Preserving unmatched tuples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drops tuples without a match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outer join pads unmatched left tuples with nulls; right outer join does the same on the right; full outer join on both sides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outer joins, on and where are not interchangeable: on is part of the join, where filters afterwards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Views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faculty 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ID, name, dept_name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  instructor;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 view used like a relation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faculty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dept_name = 'Biology';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departments_total_salary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(dept_name, total_salary) 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 dept_name, sum(salary)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  instructor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group by dept_name;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views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view is a virtual relation defined by a query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data a user should not see (here: salary)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definition is stored; the result is computed when the view is used (view expansion)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can be defined using other views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Materialized views and update of views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Materialized views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stores the result of the view and keeps it up to date (view maintenance)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queries, extra storage and maintenance cost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note: implemented as indexed views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6217920" y="1371600"/>
            <a:ext cx="548640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Updating through a view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965960"/>
            <a:ext cx="512064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on a view must be translated into updates on base relations; this is not always possible or unique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allows updates on simple views: one relation in from, only attributes in select, no group by, distinct or aggregates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check option rejects inserted or updated tuples that would not satisfy the view's where clause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16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 (preview), integrity constraints, SQL data types and schemas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Ch. 4, §4.3–4.5, pp. 143–163 · Self-study: §4.7 Authorization, pp. 165–172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Transactions (preview)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is a sequence of query and update statements executed as a unit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work: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updates become permanent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1F3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work: </a:t>
            </a:r>
            <a:pPr indent="0" marL="0">
              <a:buNone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updates of the transaction are undone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Atomicity: either all effects of a transaction are reflected in the database, or none are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systems, including SQL Server, commit each statement automatically unless a transaction is started explicitly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T-SQL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transaction … commit transaction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transaction … rollback transaction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treatment: Chapter 10.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 Integrity constraints on a single relation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(course_id    varchar(8),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sec_id       varchar(8),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semester     varchar(6),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year         numeric(4,0),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building     varchar(15),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room_number  varchar(7),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time_slot_id varchar(4),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primary key (course_id, sec_id, semester, year),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check (semester 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('Fall', 'Winter', 'Spring', 'Summer')));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unique (A1, ..., Am): a candidate key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not null: null not allowed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 types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unique: the attributes form a superkey (nulls allowed unless also not null)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(P): every tuple must satisfy P; a check is violated only if P is false (unknown passes)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can be named and dropped later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 Referential integrity and cascading actions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course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(course_id  varchar(8),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title      varchar(50),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dept_name  varchar(20),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credits    numeric(2,0) check (credits &gt; 0),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primary key (course_id),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foreign key (dept_name) references department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on delete cascade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on update cascade);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foreign key ensures that a value appearing in one relation also appears in another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action on violation: reject the update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/ on update: cascade, set null, set default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express constraints over the whole database; most systems, including SQL Server, do not support them – triggers are used instead (Chapter 5)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SQL data types and schemas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75488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SQL (DSC)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Server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and 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date, time, timestamp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date, time, datetime2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conversion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 (e as 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cast, convert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values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clause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clause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objects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clob, blob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varchar(max), varbinary(max)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User-defined types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type, create domain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type (alias types); no create domain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keys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always as identity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identity(1, 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Namespaces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. schema . relation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. schema . object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Self-study: §4.7 Authorization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Privileges: select, insert, update, delete (and others) on relations and views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&lt;privilege list&gt; on &lt;relation&gt; to &lt;user or role&gt;; revoke … from …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group privileges; with grant option lets a user pass a privilege 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combined with authorization restrict what a user can see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in Progress test 1 and in the final exam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to CQ4.1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rules declared in the database are enforced for every application. When might checking in application code still be needed?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B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17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 definition in SQL; recursive queries and the limits of relational algebra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class: DSC §4.6, p. 164; §5.4, pp. 213–218 · Self-study: §5.5 Advanced aggregation features, pp. 219–230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 Index definition in SQL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dept_index on instructor (dept_name);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 query that can use the index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instructor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dept_name = 'Music';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index dept_index on instructor;   -- SQL Server form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index lets the system find tuples with given attribute values without scanning the whole relation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are not part of the logical schema: queries return the same result with or without them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DBMS maintains indexes on every update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indexes work: Chapter 8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 Recursive queries: transitive closure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6583680" cy="4846320"/>
          </a:xfrm>
          <a:prstGeom prst="roundRect">
            <a:avLst>
              <a:gd name="adj" fmla="val 1509"/>
            </a:avLst>
          </a:prstGeom>
          <a:solidFill>
            <a:srgbClr val="F4F6F7"/>
          </a:solidFill>
          <a:ln w="12700">
            <a:solidFill>
              <a:srgbClr val="C9D3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217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all direct and indirect prerequisites (standard SQL)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recursive rec_prereq(course_id, prereq_id) as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course_id, prereq_id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  prereq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rec_prereq.course_id, prereq.prereq_id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  rec_prereq, prereq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 rec_prereq.prereq_id = prereq.course_id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rec_prereq;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SQL Server: write 'with' (no 'recursive')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and 'union all' between the two parts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13258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it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828800"/>
            <a:ext cx="4389120" cy="434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query gives direct prerequisites; the recursive query adds one more step each iteration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repeats until no new tuples appear: the fixed point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views must be monotonic (no aggregation or not exists on the recursive relation)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stops after 100 levels by default (option maxrecursion)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Transitive closure and relational algebra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relational-algebra expression can join prereq with itself only a fixed number of times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can find prerequisites up to a fixed depth k, but a database may contain a chain longer than 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non-recursive expression works for every database instance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(recursion) adds expressive power beyond relational algebra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to Chapter 2 (CQ2.3)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 cannot compute the transitive closure of a relation. This session shows the SQL extension that can.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Self-study: §5.5 Advanced aggregation features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7040880" cy="4892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Ranking: rank() over (order by …), dense_rank(), row_number()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Windowing: aggregates over a window of rows, e.g. moving averages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by computes ranks or windows within groups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supports rank, dense_rank, row_number and window aggregates with over (…)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7863840" y="1371600"/>
            <a:ext cx="3840480" cy="3291840"/>
          </a:xfrm>
          <a:prstGeom prst="roundRect">
            <a:avLst>
              <a:gd name="adj" fmla="val 3333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92440" y="15087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92440" y="196596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 topic; assessed in Progress test 1 and the final exam.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and next steps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371600"/>
            <a:ext cx="6766560" cy="4800600"/>
          </a:xfrm>
          <a:prstGeom prst="roundRect">
            <a:avLst>
              <a:gd name="adj" fmla="val 2286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640080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join, join … on, and outer joins that keep unmatched tuples with nulls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are virtual relations; materialized views are stored and maintained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commit or roll back as a unit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not null, unique, check, foreign keys with cascading actions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speed up access without changing query results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queries compute transitive closure, which relational algebra cannot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7498080" y="1371600"/>
            <a:ext cx="4206240" cy="4800600"/>
          </a:xfrm>
          <a:prstGeom prst="roundRect">
            <a:avLst>
              <a:gd name="adj" fmla="val 2609"/>
            </a:avLst>
          </a:prstGeom>
          <a:solidFill>
            <a:srgbClr val="EAF0F2"/>
          </a:solidFill>
          <a:ln w="12700">
            <a:solidFill>
              <a:srgbClr val="EAF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26680" y="1508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5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next session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965960"/>
            <a:ext cx="3840480" cy="406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Self-study: §4.7 Authorization and §5.5 Advanced aggregation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DSC §5.1, pp. 183–197 for session 18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CQ4.1–CQ4.3 are discussed in session 18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IDB201 Chapter 4 – Intermediate SQL: joins, views, constraints, recursion</dc:title>
  <dc:subject>PptxGenJS Presentation</dc:subject>
  <dc:creator>IDB201 course team</dc:creator>
  <cp:lastModifiedBy>IDB201 course team</cp:lastModifiedBy>
  <cp:revision>1</cp:revision>
  <dcterms:created xsi:type="dcterms:W3CDTF">2026-10-24T01:30:27Z</dcterms:created>
  <dcterms:modified xsi:type="dcterms:W3CDTF">2026-10-24T01:30:27Z</dcterms:modified>
</cp:coreProperties>
</file>
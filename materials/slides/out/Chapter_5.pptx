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Details, rubric and submission format are in the Lab 2 handout. Submit before the end of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DSC §5.3 discusses when not to use triggers; the list above follows that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3 part 2 asks students to measure a cursor solution against a set-based one on the same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IDB201 – Introduction to Databases  ·  Chapter 5: Programming the database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IDB201 – Introduction to Databases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the database: SQL from programs and T-SQL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18, 19, 20, 21, 22, 23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textbook: Silberschatz, Korth &amp; Sudarshan, Database System Concepts, 7th ed. (2020) – §5.1–5.3, pp. 183–212; T-SQL reference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5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from programs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APIs, cursors, prepared statements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and parameters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CQ4.1–CQ4.3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DDL, integrity constraints, views and parameterized queries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20–21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Functions, procedures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batches, variables, IF, WHILE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and table-valued functions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Procedures, TRY…CATCH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9828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22–23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10412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104120" y="1965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Triggers, cursors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2606040"/>
            <a:ext cx="233172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and INSTEAD OF triggers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Cursors: row-by-row vs. set-based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18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Accessing SQL from a programming language: APIs, cursors, prepared statements; SQL injection and parameterized queries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§5.1, pp. 183–197 · Self-study: §9.8 Application security, pp. 437–446; Python access to SQL Server (optional)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 Accessing SQL from a programming language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not a general-purpose language, so applications combine a host language with SQL.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SQL through an API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3200400" cy="3337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builds SQL at run time and sends it through an API: JDBC (Java), ODBC (C and others), Python database APIs.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1488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 SQL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697480"/>
            <a:ext cx="3200400" cy="3337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statements are written inside the host program and translated by a preprocessor at compile time.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1488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2148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Connect, execute, fetch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697480"/>
            <a:ext cx="3200400" cy="3337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connection, execute statements, iterate over the result rows, handle exceptions, close the connection.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Cursors and prepared statements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Cursor (result iteration)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result is a set; the host program processes it one row at a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returns a result object that is advanced row by row (e.g. ResultSet.next() in JDBC)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 appears as T-SQL cursors in session 23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21792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Prepared statements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text contains placeholders (?) for values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statement is compiled once and executed many times with different values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passed as parameters, never pasted into the SQL text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program builds the query by concatenation: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instructor where name = '" + name + "'"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the user types as name: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X' or 'Y' = 'Y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the query that is executed: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instructor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name = 'X' or 'Y' = 'Y'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the where clause is always true: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every instructor is returned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goes wrong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changes the structure of the query, not just a value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inputs can modify or delete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Defense: prepared statements / parameters, so the input is always treated as a value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follows DSC §5.1 (prepared statements)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Parameterized queries in T-SQL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@dept varchar(20) = N'Physics';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static SQL with a variable: safe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instructor where dept_name = @dept;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dynamic SQL with a parameter: safe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sp_executesql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N'select name from instructor where dept_name = @d',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N'@d varchar(20)',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@d = @dept;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dynamic SQL by concatenation: UNSAFE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exec ('select name from instructor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       where dept_name = ''' + @dept + '''');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sp_executesql takes the SQL text, the parameter declarations and the values separately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Concatenating user input into exec(…) reopens the injection risk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 (session 21): dynamic SQL with sp_executesql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CQ4.1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should integrity rules be declared in the database rather than checked in application code? When is the opposite true?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applications use the same database?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rules cannot be declared as constraints?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notices a violation, and when?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§4.4 Integrity constraints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§5.3 Triggers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CQ4.2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view costs nothing extra at run time. How is that possible, and when would a materialized view be better?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system store for a view?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view expansion?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query speed vs. storage and maintenance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§4.2 Views (materialized views)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Constructivist question CQ4.3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737360"/>
          </a:xfrm>
          <a:prstGeom prst="roundRect">
            <a:avLst>
              <a:gd name="adj" fmla="val 6316"/>
            </a:avLst>
          </a:prstGeom>
          <a:solidFill>
            <a:srgbClr val="1F3B4D"/>
          </a:solidFill>
          <a:ln w="12700">
            <a:solidFill>
              <a:srgbClr val="1F3B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parameterized queries prevent SQL injection, while escaping user input is considered fragile?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prompts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49040"/>
            <a:ext cx="694944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the structure of the query fixed?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an escaping routine get right for every input?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to the example on the injection slide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863840" y="333756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look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931920"/>
            <a:ext cx="347472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§5.1 (prepared statements, SQL injection)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Self-study: DSC §9.8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19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2: DDL, integrity constraints, views and parameterized queries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4 Exercises, pp. 176–179; §5.1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2263140"/>
          </a:xfrm>
          <a:prstGeom prst="roundRect">
            <a:avLst>
              <a:gd name="adj" fmla="val 4848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512064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tables with primary keys, foreign keys, unique, not null and check constraints.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486400" cy="2263140"/>
          </a:xfrm>
          <a:prstGeom prst="roundRect">
            <a:avLst>
              <a:gd name="adj" fmla="val 4848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5544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03120"/>
            <a:ext cx="512064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each constraint rejecting an invalid insert or update, and explain the error.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09060"/>
            <a:ext cx="5486400" cy="2263140"/>
          </a:xfrm>
          <a:prstGeom prst="roundRect">
            <a:avLst>
              <a:gd name="adj" fmla="val 4848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0919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091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0919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640580"/>
            <a:ext cx="512064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views, query them, and test an update through a view with check option.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3909060"/>
            <a:ext cx="5486400" cy="2263140"/>
          </a:xfrm>
          <a:prstGeom prst="roundRect">
            <a:avLst>
              <a:gd name="adj" fmla="val 4848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409194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091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40919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Parameterize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640580"/>
            <a:ext cx="5120640" cy="1394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an injection-prone dynamic query with sp_executesql and parameters (Investigate).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20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and procedures (1): T-SQL batches, variables and control flow; scalar and table-valued user-defined functions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§5.2 (within pp. 198–212); T-SQL reference: control-of-flow language, CREATE FUNCTION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T-SQL batches, variables and control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@n int = 0, @total numeric(12,2);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@total = sum(budget) from department;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@total &gt; 1000000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'Large total budget';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'Small total budget';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@n &lt; 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 @n = @n + 1;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@n;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  -- batch separator in SSMS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blocks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/ set / select @v = … assign variables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… end groups statements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… else and while give procedural control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ends a batch (an SSMS command, not T-SQL)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§5.2 describes the same constructs in standard SQL/PSM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Scalar user-defined function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function dbo.dept_count (@dept_name varchar(20))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declare @d_count int;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@d_count = count(*)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  instructor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 instructor.dept_name = @dept_name;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@d_count;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departments with more than 12 instructors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dept_name, budget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department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dbo.dept_count(dept_name) &gt; 12;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DSC §5.2 example in T-SQL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scalar function returns one value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used wherever an expression is allowed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it with its schema name (dbo.)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may not modify the database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Table-valued user-defined function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function dbo.instructor_of (@dept_name varchar(20))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 table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ID, name, dept_name, salary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  instructor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 instructor.dept_name = @dept_name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dbo.instructor_of('Finance');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relation, so it is used in the from clause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Behaves like a parameterized view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table-valued functions can be optimized together with the calling query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21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and procedures (2): stored procedures, TRY…CATCH, transactions inside a procedure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§5.2 (within pp. 198–212); T-SQL reference: CREATE PROCEDURE, TRY…CATCH · Self-study: dynamic SQL with sp_executesql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Stored procedures with input and output parameters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dbo.dept_count_proc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@dept_name varchar(20),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@d_count   int output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@d_count = count(*)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  instructor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 dept_name = @dept_name;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@c int;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dbo.dept_count_proc 'Physics', @c output;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@c;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procedure is invoked with exec, not inside a query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parameters return values to the caller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may modify the database and contain transactions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DSC version uses SQL/PSM syntax: in and out parameters, call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 and transactions in a procedure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dbo.transfer_budget @from varchar(20),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@to varchar(20), @amount numeric(12,2)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begin try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begin transaction;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update department set budget = budget - @amount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where  dept_name = @from;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update department set budget = budget + @amount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where  dept_name = @to;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commit transaction;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try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begin catch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@@trancount &gt; 0 rollback transaction;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throw;   -- re-raise the error to the caller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catch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updates take effect, or neither does (atomicity)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error inside try jumps to catch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@@trancount tells whether a transaction is open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 re-raises; error_message() reads the message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in depth: Chapter 10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22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Triggers: AFTER and INSTEAD OF; the inserted and deleted tables; business rules; when not to use triggers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§5.3 (within pp. 198–212); T-SQL reference: CREATE TRIGGER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 Triggers: the event–condition–action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trigger is a statement executed automatically by the system as a side effect of a modification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specifies an event (insert, delete, update), a condition and an action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enforce rules that keys and check constraints cannot express; keep derived data up to date; write audit logs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SQL has before and after triggers, at row level (for each row) or statement level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Server: after and instead of triggers, fired once per statement; the affected rows are in the inserted and deleted tables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inserted and deleted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new rows in inserted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old rows in deleted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old rows in deleted, new rows in inserted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trigger: maintaining tot_cred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 dbo.credits_earned on takes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update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 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   tot_cred = s.tot_cred + c.credits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  student 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  inserted i on s.ID = i.ID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  deleted  d on d.ID = i.ID and d.course_id = i.course_id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and d.sec_id = i.sec_id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and d.semester = i.semester and d.year = i.year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  course c on c.course_id = i.course_id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 i.grade &lt;&gt; 'F' and i.grade is not null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 (d.grade = 'F' or d.grade is null);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DSC §5.3 example in T-SQL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 grades are updated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credits when a grade changes from F or null to a passing grade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set-based so that one statement updating many rows is handled correctly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DSC version is a row-level trigger (for each row)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INSTEAD OF trigger on a 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dbo.faculty 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ID, name, dept_name from instructor;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 dbo.faculty_insert on dbo.faculty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instead of insert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instructor (ID, name, dept_name, salary)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ID, name, dept_name, null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  inserted;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triggering statement with the trigger's action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view accept inserts that the system could not translate on its own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the missing salary is set to null; a real rule might use a default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not to use triggers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logic: the effect of a statement is no longer visible in the statement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triggers: one trigger fires another, possibly in a loop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data or restoring a backup may fire triggers unintentionally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21792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 instead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constraints (keys, foreign keys, check) when they can express the rule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features, e.g. cascading foreign-key actions and materialized (indexed) views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that perform a business operation explicitly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23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Cursors: from the cursor concept of §5.1 to T-SQL cursors; row-by-row versus set-based processing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§5.1 (cursors, revisited), §5.2 (loops over query results); T-SQL reference: DECLARE CURSOR, FETCH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T-SQL cursor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@id varchar(5), @salary numeric(8,2);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c cursor for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ID, salary from instructor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 dept_name = 'Music';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c;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 next from c into @id, @salary;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@@fetch_status =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 instructor set salary = @salary * 1.05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 ID = @id;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 next from c into @id, @salary;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 c;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deallocate c;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cycle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… cursor for &lt;query&gt;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then fetch next into variables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@@fetch_status = 0 while a row was fetched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and deallocate when finished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Row-by-row versus set-based processing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cursor above does the same work as one statement:  update instructor set salary = salary * 1.05 where dept_name = 'Music';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96596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03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Cursor (row by row)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5120640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statement per row, with fetch overhead each time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 sees only single-row updates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Justified when each row needs a different procedural action, e.g. calling a procedure per row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6217920" y="196596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2103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Set-based SQL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560320"/>
            <a:ext cx="5120640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declarative statement for all rows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 chooses the access path for the whole set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much faster and shorter; the default choice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and next steps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676656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640080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reach SQL through APIs or embedded SQL; cursors iterate over results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(prepared statements, sp_executesql) prevent SQL injection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adds variables, control flow, functions and procedures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TRY…CATCH with transactions makes a procedure all-or-nothing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react to modifications through inserted and deleted; use them sparingly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set-based SQL; use cursors only when needed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7498080" y="1371600"/>
            <a:ext cx="4206240" cy="4800600"/>
          </a:xfrm>
          <a:prstGeom prst="roundRect">
            <a:avLst>
              <a:gd name="adj" fmla="val 2609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2668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next session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965960"/>
            <a:ext cx="384048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of CQ4.1–CQ4.3 and submit an answer within one week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Self-study: §9.8 Application security; dynamic SQL with sp_executesql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24–25: Lab 3; session 26: Progress test 1 (Chapters 1–5)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IDB201 Chapter 5 – Programming the database: SQL from programs and T-SQL</dc:title>
  <dc:subject>PptxGenJS Presentation</dc:subject>
  <dc:creator>IDB201 course team</dc:creator>
  <cp:lastModifiedBy>IDB201 course team</cp:lastModifiedBy>
  <cp:revision>1</cp:revision>
  <dcterms:created xsi:type="dcterms:W3CDTF">2026-10-24T01:30:27Z</dcterms:created>
  <dcterms:modified xsi:type="dcterms:W3CDTF">2026-10-24T01:30:27Z</dcterms:modified>
</cp:coreProperties>
</file>